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4648200" y="1127233"/>
            <a:ext cx="7117492" cy="2953910"/>
          </a:xfrm>
          <a:prstGeom prst="rect">
            <a:avLst/>
          </a:prstGeom>
        </p:spPr>
        <p:txBody>
          <a:bodyPr anchor="ctr"/>
          <a:lstStyle>
            <a:lvl1pPr algn="l">
              <a:defRPr b="1" sz="4800">
                <a:solidFill>
                  <a:srgbClr val="0C232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Spatial ARGs Workshop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xfrm>
            <a:off x="4648200" y="4173218"/>
            <a:ext cx="6194855" cy="1655762"/>
          </a:xfrm>
          <a:prstGeom prst="rect">
            <a:avLst/>
          </a:prstGeom>
        </p:spPr>
        <p:txBody>
          <a:bodyPr anchor="ctr"/>
          <a:lstStyle/>
          <a:p>
            <a:pPr algn="l">
              <a:defRPr b="1"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James Kitchens</a:t>
            </a:r>
          </a:p>
          <a:p>
            <a:pPr algn="l">
              <a:defRPr sz="2000"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Coop Lab</a:t>
            </a:r>
          </a:p>
          <a:p>
            <a:pPr algn="l">
              <a:defRPr sz="2000"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University of California Davis</a:t>
            </a:r>
          </a:p>
        </p:txBody>
      </p:sp>
      <p:sp>
        <p:nvSpPr>
          <p:cNvPr id="96" name="Hexagon 3"/>
          <p:cNvSpPr/>
          <p:nvPr/>
        </p:nvSpPr>
        <p:spPr>
          <a:xfrm>
            <a:off x="738650" y="2054313"/>
            <a:ext cx="1275712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Hexagon 4"/>
          <p:cNvSpPr/>
          <p:nvPr/>
        </p:nvSpPr>
        <p:spPr>
          <a:xfrm>
            <a:off x="738650" y="954562"/>
            <a:ext cx="1275712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Hexagon 5"/>
          <p:cNvSpPr/>
          <p:nvPr/>
        </p:nvSpPr>
        <p:spPr>
          <a:xfrm>
            <a:off x="738650" y="3154064"/>
            <a:ext cx="1275712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Hexagon 6"/>
          <p:cNvSpPr/>
          <p:nvPr/>
        </p:nvSpPr>
        <p:spPr>
          <a:xfrm>
            <a:off x="-265667" y="2604188"/>
            <a:ext cx="1275711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Hexagon 7"/>
          <p:cNvSpPr/>
          <p:nvPr/>
        </p:nvSpPr>
        <p:spPr>
          <a:xfrm>
            <a:off x="-265667" y="1504438"/>
            <a:ext cx="1275711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Hexagon 8"/>
          <p:cNvSpPr/>
          <p:nvPr/>
        </p:nvSpPr>
        <p:spPr>
          <a:xfrm>
            <a:off x="-265667" y="404686"/>
            <a:ext cx="1275711" cy="10997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Hexagon 9"/>
          <p:cNvSpPr/>
          <p:nvPr/>
        </p:nvSpPr>
        <p:spPr>
          <a:xfrm>
            <a:off x="738650" y="-145190"/>
            <a:ext cx="1275712" cy="10997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Hexagon 12"/>
          <p:cNvSpPr/>
          <p:nvPr/>
        </p:nvSpPr>
        <p:spPr>
          <a:xfrm>
            <a:off x="-265667" y="3703939"/>
            <a:ext cx="1275711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Hexagon 13"/>
          <p:cNvSpPr/>
          <p:nvPr/>
        </p:nvSpPr>
        <p:spPr>
          <a:xfrm>
            <a:off x="2747042" y="2054312"/>
            <a:ext cx="1275712" cy="10997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Hexagon 16"/>
          <p:cNvSpPr/>
          <p:nvPr/>
        </p:nvSpPr>
        <p:spPr>
          <a:xfrm>
            <a:off x="1742725" y="2604187"/>
            <a:ext cx="1275712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Hexagon 17"/>
          <p:cNvSpPr/>
          <p:nvPr/>
        </p:nvSpPr>
        <p:spPr>
          <a:xfrm>
            <a:off x="1742725" y="1504438"/>
            <a:ext cx="1275712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Hexagon 19"/>
          <p:cNvSpPr/>
          <p:nvPr/>
        </p:nvSpPr>
        <p:spPr>
          <a:xfrm>
            <a:off x="2747042" y="-145191"/>
            <a:ext cx="1275712" cy="10997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Hexagon 29"/>
          <p:cNvSpPr/>
          <p:nvPr/>
        </p:nvSpPr>
        <p:spPr>
          <a:xfrm>
            <a:off x="738650" y="5353563"/>
            <a:ext cx="1275712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Hexagon 30"/>
          <p:cNvSpPr/>
          <p:nvPr/>
        </p:nvSpPr>
        <p:spPr>
          <a:xfrm>
            <a:off x="-265667" y="5903438"/>
            <a:ext cx="1275711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Hexagon 31"/>
          <p:cNvSpPr/>
          <p:nvPr/>
        </p:nvSpPr>
        <p:spPr>
          <a:xfrm>
            <a:off x="-265667" y="4803687"/>
            <a:ext cx="1275711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Hexagon 32"/>
          <p:cNvSpPr/>
          <p:nvPr/>
        </p:nvSpPr>
        <p:spPr>
          <a:xfrm>
            <a:off x="738650" y="4253810"/>
            <a:ext cx="1275712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Hexagon 33"/>
          <p:cNvSpPr/>
          <p:nvPr/>
        </p:nvSpPr>
        <p:spPr>
          <a:xfrm>
            <a:off x="2747042" y="5353563"/>
            <a:ext cx="1275712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Hexagon 34"/>
          <p:cNvSpPr/>
          <p:nvPr/>
        </p:nvSpPr>
        <p:spPr>
          <a:xfrm>
            <a:off x="1742725" y="5903438"/>
            <a:ext cx="1275712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Hexagon 35"/>
          <p:cNvSpPr/>
          <p:nvPr/>
        </p:nvSpPr>
        <p:spPr>
          <a:xfrm>
            <a:off x="1742725" y="4803687"/>
            <a:ext cx="1275712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Hexagon 36"/>
          <p:cNvSpPr/>
          <p:nvPr/>
        </p:nvSpPr>
        <p:spPr>
          <a:xfrm>
            <a:off x="2747042" y="4253810"/>
            <a:ext cx="1275712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Hexagon 38"/>
          <p:cNvSpPr/>
          <p:nvPr/>
        </p:nvSpPr>
        <p:spPr>
          <a:xfrm>
            <a:off x="-265667" y="-695068"/>
            <a:ext cx="1275711" cy="10997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Hexagon 39"/>
          <p:cNvSpPr/>
          <p:nvPr/>
        </p:nvSpPr>
        <p:spPr>
          <a:xfrm>
            <a:off x="1739956" y="-695068"/>
            <a:ext cx="1275711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Hexagon 40"/>
          <p:cNvSpPr/>
          <p:nvPr/>
        </p:nvSpPr>
        <p:spPr>
          <a:xfrm>
            <a:off x="738649" y="6434770"/>
            <a:ext cx="1275711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Hexagon 42"/>
          <p:cNvSpPr/>
          <p:nvPr/>
        </p:nvSpPr>
        <p:spPr>
          <a:xfrm>
            <a:off x="1739956" y="410874"/>
            <a:ext cx="1275711" cy="1099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BFBFBF"/>
          </a:solidFill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Subtitle 2"/>
          <p:cNvSpPr txBox="1"/>
          <p:nvPr/>
        </p:nvSpPr>
        <p:spPr>
          <a:xfrm>
            <a:off x="6042866" y="5202237"/>
            <a:ext cx="6103414" cy="1655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jkitchens@ucdavis.edu</a:t>
            </a:r>
          </a:p>
          <a:p>
            <a:pPr algn="r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james-kitchens.com</a:t>
            </a:r>
          </a:p>
          <a:p>
            <a:pPr algn="r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@kitchensjn.bsky.social</a:t>
            </a:r>
          </a:p>
          <a:p>
            <a:pPr algn="r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@kitchensjn.ecoevo.social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Getting started</a:t>
            </a:r>
          </a:p>
        </p:txBody>
      </p:sp>
      <p:sp>
        <p:nvSpPr>
          <p:cNvPr id="123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b="1"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GitHub repository</a:t>
            </a:r>
          </a:p>
          <a:p>
            <a:pPr marL="0" indent="0" algn="ctr">
              <a:buSzTx/>
              <a:buNone/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https://github.com/kitchensjn/ARGevol2025_Day3_Workshop</a:t>
            </a:r>
          </a:p>
          <a:p>
            <a:pPr marL="0" indent="0" algn="ctr">
              <a:buSzTx/>
              <a:buNone/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</a:p>
          <a:p>
            <a:pPr marL="0" indent="0" algn="ctr">
              <a:buSzTx/>
              <a:buNone/>
              <a:defRPr b="1"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Set up environment</a:t>
            </a:r>
          </a:p>
          <a:p>
            <a:pPr marL="0" indent="0" algn="ctr">
              <a:buSzTx/>
              <a:buNone/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conda env create -f environment.yml</a:t>
            </a:r>
          </a:p>
        </p:txBody>
      </p:sp>
      <p:grpSp>
        <p:nvGrpSpPr>
          <p:cNvPr id="134" name="Group 27"/>
          <p:cNvGrpSpPr/>
          <p:nvPr/>
        </p:nvGrpSpPr>
        <p:grpSpPr>
          <a:xfrm>
            <a:off x="4631884" y="4893405"/>
            <a:ext cx="7698255" cy="2282798"/>
            <a:chOff x="0" y="0"/>
            <a:chExt cx="7698254" cy="2282796"/>
          </a:xfrm>
        </p:grpSpPr>
        <p:sp>
          <p:nvSpPr>
            <p:cNvPr id="124" name="Hexagon 11"/>
            <p:cNvSpPr/>
            <p:nvPr/>
          </p:nvSpPr>
          <p:spPr>
            <a:xfrm rot="16200000">
              <a:off x="2661399" y="87980"/>
              <a:ext cx="1275712" cy="10997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BFBFBF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5" name="Hexagon 12"/>
            <p:cNvSpPr/>
            <p:nvPr/>
          </p:nvSpPr>
          <p:spPr>
            <a:xfrm rot="16200000">
              <a:off x="3211274" y="1092296"/>
              <a:ext cx="1275712" cy="10997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BFBFBF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6" name="Hexagon 13"/>
            <p:cNvSpPr/>
            <p:nvPr/>
          </p:nvSpPr>
          <p:spPr>
            <a:xfrm rot="16200000">
              <a:off x="2111524" y="1092296"/>
              <a:ext cx="1275712" cy="10997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BFBFBF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7" name="Hexagon 14"/>
            <p:cNvSpPr/>
            <p:nvPr/>
          </p:nvSpPr>
          <p:spPr>
            <a:xfrm rot="16200000">
              <a:off x="461897" y="87980"/>
              <a:ext cx="1275711" cy="10997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BFBFBF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8" name="Hexagon 19"/>
            <p:cNvSpPr/>
            <p:nvPr/>
          </p:nvSpPr>
          <p:spPr>
            <a:xfrm rot="16200000">
              <a:off x="5960649" y="87980"/>
              <a:ext cx="1275712" cy="10997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BFBFBF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9" name="Hexagon 20"/>
            <p:cNvSpPr/>
            <p:nvPr/>
          </p:nvSpPr>
          <p:spPr>
            <a:xfrm rot="16200000">
              <a:off x="6510524" y="1092296"/>
              <a:ext cx="1275712" cy="10997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BFBFBF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0" name="Hexagon 21"/>
            <p:cNvSpPr/>
            <p:nvPr/>
          </p:nvSpPr>
          <p:spPr>
            <a:xfrm rot="16200000">
              <a:off x="5410773" y="1092296"/>
              <a:ext cx="1275712" cy="10997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BFBFBF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1" name="Hexagon 22"/>
            <p:cNvSpPr/>
            <p:nvPr/>
          </p:nvSpPr>
          <p:spPr>
            <a:xfrm rot="16200000">
              <a:off x="4860896" y="87980"/>
              <a:ext cx="1275712" cy="10997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BFBFBF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2" name="Hexagon 24"/>
            <p:cNvSpPr/>
            <p:nvPr/>
          </p:nvSpPr>
          <p:spPr>
            <a:xfrm rot="16200000">
              <a:off x="-87981" y="1095066"/>
              <a:ext cx="1275712" cy="10997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BFBFBF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3" name="Hexagon 26"/>
            <p:cNvSpPr/>
            <p:nvPr/>
          </p:nvSpPr>
          <p:spPr>
            <a:xfrm rot="16200000">
              <a:off x="1017960" y="1095066"/>
              <a:ext cx="1275712" cy="10997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BFBFBF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Simulations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Tree- vs. graph-based approaches</a:t>
            </a:r>
          </a:p>
        </p:txBody>
      </p:sp>
      <p:pic>
        <p:nvPicPr>
          <p:cNvPr id="139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1684" y="2410514"/>
            <a:ext cx="10368632" cy="27339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Sparsely sample trees across genome</a:t>
            </a:r>
          </a:p>
        </p:txBody>
      </p:sp>
      <p:grpSp>
        <p:nvGrpSpPr>
          <p:cNvPr id="151" name="Group 5"/>
          <p:cNvGrpSpPr/>
          <p:nvPr/>
        </p:nvGrpSpPr>
        <p:grpSpPr>
          <a:xfrm>
            <a:off x="1870669" y="2362199"/>
            <a:ext cx="2057401" cy="1508557"/>
            <a:chOff x="0" y="0"/>
            <a:chExt cx="2057400" cy="1508555"/>
          </a:xfrm>
        </p:grpSpPr>
        <p:sp>
          <p:nvSpPr>
            <p:cNvPr id="142" name="Straight Connector 28"/>
            <p:cNvSpPr/>
            <p:nvPr/>
          </p:nvSpPr>
          <p:spPr>
            <a:xfrm flipV="1">
              <a:off x="114299" y="457200"/>
              <a:ext cx="1" cy="914400"/>
            </a:xfrm>
            <a:prstGeom prst="line">
              <a:avLst/>
            </a:prstGeom>
            <a:noFill/>
            <a:ln w="63500" cap="sq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3" name="Straight Connector 29"/>
            <p:cNvSpPr/>
            <p:nvPr/>
          </p:nvSpPr>
          <p:spPr>
            <a:xfrm flipV="1">
              <a:off x="1028700" y="457200"/>
              <a:ext cx="0" cy="914400"/>
            </a:xfrm>
            <a:prstGeom prst="line">
              <a:avLst/>
            </a:prstGeom>
            <a:noFill/>
            <a:ln w="63500" cap="sq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4" name="Straight Connector 30"/>
            <p:cNvSpPr/>
            <p:nvPr/>
          </p:nvSpPr>
          <p:spPr>
            <a:xfrm flipV="1">
              <a:off x="571500" y="0"/>
              <a:ext cx="0" cy="457200"/>
            </a:xfrm>
            <a:prstGeom prst="line">
              <a:avLst/>
            </a:prstGeom>
            <a:noFill/>
            <a:ln w="63500" cap="sq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5" name="Straight Connector 31"/>
            <p:cNvSpPr/>
            <p:nvPr/>
          </p:nvSpPr>
          <p:spPr>
            <a:xfrm flipV="1">
              <a:off x="1943100" y="0"/>
              <a:ext cx="0" cy="1371600"/>
            </a:xfrm>
            <a:prstGeom prst="line">
              <a:avLst/>
            </a:prstGeom>
            <a:noFill/>
            <a:ln w="63500" cap="sq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6" name="Straight Connector 35"/>
            <p:cNvSpPr/>
            <p:nvPr/>
          </p:nvSpPr>
          <p:spPr>
            <a:xfrm>
              <a:off x="114299" y="451670"/>
              <a:ext cx="914401" cy="1"/>
            </a:xfrm>
            <a:prstGeom prst="line">
              <a:avLst/>
            </a:prstGeom>
            <a:noFill/>
            <a:ln w="63500" cap="sq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7" name="Straight Connector 39"/>
            <p:cNvSpPr/>
            <p:nvPr/>
          </p:nvSpPr>
          <p:spPr>
            <a:xfrm>
              <a:off x="571500" y="-1"/>
              <a:ext cx="1371600" cy="1"/>
            </a:xfrm>
            <a:prstGeom prst="line">
              <a:avLst/>
            </a:prstGeom>
            <a:noFill/>
            <a:ln w="60325" cap="sq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8" name="Oval 47"/>
            <p:cNvSpPr/>
            <p:nvPr/>
          </p:nvSpPr>
          <p:spPr>
            <a:xfrm>
              <a:off x="-1" y="1279955"/>
              <a:ext cx="228601" cy="228601"/>
            </a:xfrm>
            <a:prstGeom prst="ellipse">
              <a:avLst/>
            </a:prstGeom>
            <a:solidFill>
              <a:srgbClr val="E95E0D"/>
            </a:solidFill>
            <a:ln w="63500" cap="flat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9" name="Oval 48"/>
            <p:cNvSpPr/>
            <p:nvPr/>
          </p:nvSpPr>
          <p:spPr>
            <a:xfrm>
              <a:off x="914400" y="1277937"/>
              <a:ext cx="228600" cy="228601"/>
            </a:xfrm>
            <a:prstGeom prst="ellipse">
              <a:avLst/>
            </a:prstGeom>
            <a:solidFill>
              <a:srgbClr val="7F2704"/>
            </a:solidFill>
            <a:ln w="63500" cap="flat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0" name="Oval 49"/>
            <p:cNvSpPr/>
            <p:nvPr/>
          </p:nvSpPr>
          <p:spPr>
            <a:xfrm>
              <a:off x="1828800" y="1277937"/>
              <a:ext cx="228600" cy="228601"/>
            </a:xfrm>
            <a:prstGeom prst="ellipse">
              <a:avLst/>
            </a:prstGeom>
            <a:solidFill>
              <a:srgbClr val="FDB97D"/>
            </a:solidFill>
            <a:ln w="63500" cap="flat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161" name="Group 6"/>
          <p:cNvGrpSpPr/>
          <p:nvPr/>
        </p:nvGrpSpPr>
        <p:grpSpPr>
          <a:xfrm>
            <a:off x="5067299" y="1904999"/>
            <a:ext cx="2057401" cy="1965757"/>
            <a:chOff x="0" y="0"/>
            <a:chExt cx="2057400" cy="1965755"/>
          </a:xfrm>
        </p:grpSpPr>
        <p:sp>
          <p:nvSpPr>
            <p:cNvPr id="152" name="Straight Connector 7"/>
            <p:cNvSpPr/>
            <p:nvPr/>
          </p:nvSpPr>
          <p:spPr>
            <a:xfrm flipV="1">
              <a:off x="114299" y="914400"/>
              <a:ext cx="1" cy="914400"/>
            </a:xfrm>
            <a:prstGeom prst="line">
              <a:avLst/>
            </a:prstGeom>
            <a:noFill/>
            <a:ln w="63500" cap="sq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3" name="Straight Connector 8"/>
            <p:cNvSpPr/>
            <p:nvPr/>
          </p:nvSpPr>
          <p:spPr>
            <a:xfrm flipV="1">
              <a:off x="1028700" y="914400"/>
              <a:ext cx="0" cy="914400"/>
            </a:xfrm>
            <a:prstGeom prst="line">
              <a:avLst/>
            </a:prstGeom>
            <a:noFill/>
            <a:ln w="63500" cap="sq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4" name="Straight Connector 9"/>
            <p:cNvSpPr/>
            <p:nvPr/>
          </p:nvSpPr>
          <p:spPr>
            <a:xfrm flipV="1">
              <a:off x="571499" y="0"/>
              <a:ext cx="1" cy="914400"/>
            </a:xfrm>
            <a:prstGeom prst="line">
              <a:avLst/>
            </a:prstGeom>
            <a:noFill/>
            <a:ln w="63500" cap="sq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5" name="Straight Connector 10"/>
            <p:cNvSpPr/>
            <p:nvPr/>
          </p:nvSpPr>
          <p:spPr>
            <a:xfrm flipV="1">
              <a:off x="1943100" y="0"/>
              <a:ext cx="0" cy="1828800"/>
            </a:xfrm>
            <a:prstGeom prst="line">
              <a:avLst/>
            </a:prstGeom>
            <a:noFill/>
            <a:ln w="63500" cap="sq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6" name="Straight Connector 11"/>
            <p:cNvSpPr/>
            <p:nvPr/>
          </p:nvSpPr>
          <p:spPr>
            <a:xfrm>
              <a:off x="114299" y="914400"/>
              <a:ext cx="914401" cy="0"/>
            </a:xfrm>
            <a:prstGeom prst="line">
              <a:avLst/>
            </a:prstGeom>
            <a:noFill/>
            <a:ln w="63500" cap="sq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7" name="Straight Connector 12"/>
            <p:cNvSpPr/>
            <p:nvPr/>
          </p:nvSpPr>
          <p:spPr>
            <a:xfrm>
              <a:off x="571500" y="-1"/>
              <a:ext cx="1371600" cy="1"/>
            </a:xfrm>
            <a:prstGeom prst="line">
              <a:avLst/>
            </a:prstGeom>
            <a:noFill/>
            <a:ln w="60325" cap="sq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8" name="Oval 13"/>
            <p:cNvSpPr/>
            <p:nvPr/>
          </p:nvSpPr>
          <p:spPr>
            <a:xfrm>
              <a:off x="-1" y="1737155"/>
              <a:ext cx="228601" cy="228601"/>
            </a:xfrm>
            <a:prstGeom prst="ellipse">
              <a:avLst/>
            </a:prstGeom>
            <a:solidFill>
              <a:srgbClr val="E95E0D"/>
            </a:solidFill>
            <a:ln w="63500" cap="flat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9" name="Oval 14"/>
            <p:cNvSpPr/>
            <p:nvPr/>
          </p:nvSpPr>
          <p:spPr>
            <a:xfrm>
              <a:off x="914400" y="1735137"/>
              <a:ext cx="228600" cy="228601"/>
            </a:xfrm>
            <a:prstGeom prst="ellipse">
              <a:avLst/>
            </a:prstGeom>
            <a:solidFill>
              <a:srgbClr val="FDB97D"/>
            </a:solidFill>
            <a:ln w="63500" cap="flat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0" name="Oval 15"/>
            <p:cNvSpPr/>
            <p:nvPr/>
          </p:nvSpPr>
          <p:spPr>
            <a:xfrm>
              <a:off x="1828800" y="1735137"/>
              <a:ext cx="228600" cy="228601"/>
            </a:xfrm>
            <a:prstGeom prst="ellipse">
              <a:avLst/>
            </a:prstGeom>
            <a:solidFill>
              <a:srgbClr val="7F2704"/>
            </a:solidFill>
            <a:ln w="63500" cap="flat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171" name="Group 16"/>
          <p:cNvGrpSpPr/>
          <p:nvPr/>
        </p:nvGrpSpPr>
        <p:grpSpPr>
          <a:xfrm>
            <a:off x="8149629" y="1895510"/>
            <a:ext cx="2057401" cy="1965756"/>
            <a:chOff x="0" y="0"/>
            <a:chExt cx="2057400" cy="1965755"/>
          </a:xfrm>
        </p:grpSpPr>
        <p:sp>
          <p:nvSpPr>
            <p:cNvPr id="162" name="Straight Connector 17"/>
            <p:cNvSpPr/>
            <p:nvPr/>
          </p:nvSpPr>
          <p:spPr>
            <a:xfrm flipV="1">
              <a:off x="114299" y="1371600"/>
              <a:ext cx="1" cy="457200"/>
            </a:xfrm>
            <a:prstGeom prst="line">
              <a:avLst/>
            </a:prstGeom>
            <a:noFill/>
            <a:ln w="63500" cap="sq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3" name="Straight Connector 18"/>
            <p:cNvSpPr/>
            <p:nvPr/>
          </p:nvSpPr>
          <p:spPr>
            <a:xfrm flipV="1">
              <a:off x="1028700" y="1371600"/>
              <a:ext cx="0" cy="457200"/>
            </a:xfrm>
            <a:prstGeom prst="line">
              <a:avLst/>
            </a:prstGeom>
            <a:noFill/>
            <a:ln w="63500" cap="sq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4" name="Straight Connector 19"/>
            <p:cNvSpPr/>
            <p:nvPr/>
          </p:nvSpPr>
          <p:spPr>
            <a:xfrm flipV="1">
              <a:off x="571499" y="0"/>
              <a:ext cx="1" cy="1371600"/>
            </a:xfrm>
            <a:prstGeom prst="line">
              <a:avLst/>
            </a:prstGeom>
            <a:noFill/>
            <a:ln w="63500" cap="sq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5" name="Straight Connector 20"/>
            <p:cNvSpPr/>
            <p:nvPr/>
          </p:nvSpPr>
          <p:spPr>
            <a:xfrm flipV="1">
              <a:off x="1943100" y="0"/>
              <a:ext cx="0" cy="1828800"/>
            </a:xfrm>
            <a:prstGeom prst="line">
              <a:avLst/>
            </a:prstGeom>
            <a:noFill/>
            <a:ln w="63500" cap="sq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6" name="Straight Connector 21"/>
            <p:cNvSpPr/>
            <p:nvPr/>
          </p:nvSpPr>
          <p:spPr>
            <a:xfrm>
              <a:off x="114299" y="1371600"/>
              <a:ext cx="914401" cy="0"/>
            </a:xfrm>
            <a:prstGeom prst="line">
              <a:avLst/>
            </a:prstGeom>
            <a:noFill/>
            <a:ln w="63500" cap="sq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7" name="Straight Connector 22"/>
            <p:cNvSpPr/>
            <p:nvPr/>
          </p:nvSpPr>
          <p:spPr>
            <a:xfrm>
              <a:off x="571500" y="-1"/>
              <a:ext cx="1371600" cy="1"/>
            </a:xfrm>
            <a:prstGeom prst="line">
              <a:avLst/>
            </a:prstGeom>
            <a:noFill/>
            <a:ln w="60325" cap="sq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8" name="Oval 23"/>
            <p:cNvSpPr/>
            <p:nvPr/>
          </p:nvSpPr>
          <p:spPr>
            <a:xfrm>
              <a:off x="-1" y="1737155"/>
              <a:ext cx="228601" cy="228601"/>
            </a:xfrm>
            <a:prstGeom prst="ellipse">
              <a:avLst/>
            </a:prstGeom>
            <a:solidFill>
              <a:srgbClr val="7F2704"/>
            </a:solidFill>
            <a:ln w="63500" cap="flat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9" name="Oval 24"/>
            <p:cNvSpPr/>
            <p:nvPr/>
          </p:nvSpPr>
          <p:spPr>
            <a:xfrm>
              <a:off x="914400" y="1735137"/>
              <a:ext cx="228600" cy="228601"/>
            </a:xfrm>
            <a:prstGeom prst="ellipse">
              <a:avLst/>
            </a:prstGeom>
            <a:solidFill>
              <a:srgbClr val="FDB97D"/>
            </a:solidFill>
            <a:ln w="63500" cap="flat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0" name="Oval 25"/>
            <p:cNvSpPr/>
            <p:nvPr/>
          </p:nvSpPr>
          <p:spPr>
            <a:xfrm>
              <a:off x="1828800" y="1735137"/>
              <a:ext cx="228600" cy="228601"/>
            </a:xfrm>
            <a:prstGeom prst="ellipse">
              <a:avLst/>
            </a:prstGeom>
            <a:solidFill>
              <a:srgbClr val="E95E0D"/>
            </a:solidFill>
            <a:ln w="63500" cap="flat">
              <a:solidFill>
                <a:srgbClr val="0C23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72" name="Rounded Rectangle 27"/>
          <p:cNvSpPr/>
          <p:nvPr/>
        </p:nvSpPr>
        <p:spPr>
          <a:xfrm>
            <a:off x="1870669" y="4422762"/>
            <a:ext cx="2057401" cy="266693"/>
          </a:xfrm>
          <a:prstGeom prst="roundRect">
            <a:avLst>
              <a:gd name="adj" fmla="val 16667"/>
            </a:avLst>
          </a:prstGeom>
          <a:solidFill>
            <a:srgbClr val="0C23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Rounded Rectangle 32"/>
          <p:cNvSpPr/>
          <p:nvPr/>
        </p:nvSpPr>
        <p:spPr>
          <a:xfrm>
            <a:off x="5067300" y="4422762"/>
            <a:ext cx="2057400" cy="266693"/>
          </a:xfrm>
          <a:prstGeom prst="roundRect">
            <a:avLst>
              <a:gd name="adj" fmla="val 16667"/>
            </a:avLst>
          </a:prstGeom>
          <a:solidFill>
            <a:srgbClr val="0C23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Rounded Rectangle 33"/>
          <p:cNvSpPr/>
          <p:nvPr/>
        </p:nvSpPr>
        <p:spPr>
          <a:xfrm>
            <a:off x="8149629" y="4422762"/>
            <a:ext cx="2057401" cy="266693"/>
          </a:xfrm>
          <a:prstGeom prst="roundRect">
            <a:avLst>
              <a:gd name="adj" fmla="val 16667"/>
            </a:avLst>
          </a:prstGeom>
          <a:solidFill>
            <a:srgbClr val="0C23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Rounded Rectangle 42"/>
          <p:cNvSpPr/>
          <p:nvPr/>
        </p:nvSpPr>
        <p:spPr>
          <a:xfrm rot="5400000">
            <a:off x="2670769" y="4420801"/>
            <a:ext cx="457201" cy="265177"/>
          </a:xfrm>
          <a:prstGeom prst="roundRect">
            <a:avLst>
              <a:gd name="adj" fmla="val 16667"/>
            </a:avLst>
          </a:prstGeom>
          <a:solidFill>
            <a:srgbClr val="FFF5EB"/>
          </a:solidFill>
          <a:ln w="63500">
            <a:solidFill>
              <a:srgbClr val="0C232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Rounded Rectangle 43"/>
          <p:cNvSpPr/>
          <p:nvPr/>
        </p:nvSpPr>
        <p:spPr>
          <a:xfrm rot="5400000">
            <a:off x="5864202" y="4420801"/>
            <a:ext cx="457201" cy="265177"/>
          </a:xfrm>
          <a:prstGeom prst="roundRect">
            <a:avLst>
              <a:gd name="adj" fmla="val 16667"/>
            </a:avLst>
          </a:prstGeom>
          <a:solidFill>
            <a:srgbClr val="FFF5EB"/>
          </a:solidFill>
          <a:ln w="63500">
            <a:solidFill>
              <a:srgbClr val="0C232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Rounded Rectangle 44"/>
          <p:cNvSpPr/>
          <p:nvPr/>
        </p:nvSpPr>
        <p:spPr>
          <a:xfrm rot="5400000">
            <a:off x="8949729" y="4420801"/>
            <a:ext cx="457201" cy="265177"/>
          </a:xfrm>
          <a:prstGeom prst="roundRect">
            <a:avLst>
              <a:gd name="adj" fmla="val 16667"/>
            </a:avLst>
          </a:prstGeom>
          <a:solidFill>
            <a:srgbClr val="FFF5EB"/>
          </a:solidFill>
          <a:ln w="63500">
            <a:solidFill>
              <a:srgbClr val="0C232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" name="TextBox 45"/>
          <p:cNvSpPr txBox="1"/>
          <p:nvPr/>
        </p:nvSpPr>
        <p:spPr>
          <a:xfrm>
            <a:off x="4276547" y="4291779"/>
            <a:ext cx="439078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800"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179" name="TextBox 46"/>
          <p:cNvSpPr txBox="1"/>
          <p:nvPr/>
        </p:nvSpPr>
        <p:spPr>
          <a:xfrm>
            <a:off x="7416026" y="4324789"/>
            <a:ext cx="439079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2800"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180" name="TextBox 50"/>
          <p:cNvSpPr txBox="1"/>
          <p:nvPr/>
        </p:nvSpPr>
        <p:spPr>
          <a:xfrm>
            <a:off x="10138448" y="1914275"/>
            <a:ext cx="2134465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Recreation of figure from Osmond and Coop 2024</a:t>
            </a:r>
          </a:p>
        </p:txBody>
      </p:sp>
      <p:sp>
        <p:nvSpPr>
          <p:cNvPr id="181" name="TextBox 51"/>
          <p:cNvSpPr txBox="1"/>
          <p:nvPr/>
        </p:nvSpPr>
        <p:spPr>
          <a:xfrm>
            <a:off x="-14742" y="4368722"/>
            <a:ext cx="2134466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Genome</a:t>
            </a:r>
          </a:p>
        </p:txBody>
      </p:sp>
      <p:sp>
        <p:nvSpPr>
          <p:cNvPr id="182" name="Content Placeholder 55"/>
          <p:cNvSpPr txBox="1"/>
          <p:nvPr>
            <p:ph type="body" sz="quarter" idx="1"/>
          </p:nvPr>
        </p:nvSpPr>
        <p:spPr>
          <a:xfrm>
            <a:off x="838200" y="5471024"/>
            <a:ext cx="10515600" cy="98231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Determine the migration surface which maximizes the composite likelihood across all the trees using hill-climbing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Current spatial ARG approaches</a:t>
            </a:r>
          </a:p>
        </p:txBody>
      </p:sp>
      <p:sp>
        <p:nvSpPr>
          <p:cNvPr id="185" name="Double Arrow"/>
          <p:cNvSpPr/>
          <p:nvPr/>
        </p:nvSpPr>
        <p:spPr>
          <a:xfrm>
            <a:off x="1135352" y="2229437"/>
            <a:ext cx="9921296" cy="1325564"/>
          </a:xfrm>
          <a:prstGeom prst="leftRightArrow">
            <a:avLst>
              <a:gd name="adj1" fmla="val 44290"/>
              <a:gd name="adj2" fmla="val 67714"/>
            </a:avLst>
          </a:prstGeom>
          <a:solidFill>
            <a:srgbClr val="BFBFB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86" name="Trees"/>
          <p:cNvSpPr txBox="1"/>
          <p:nvPr/>
        </p:nvSpPr>
        <p:spPr>
          <a:xfrm>
            <a:off x="1675365" y="2725675"/>
            <a:ext cx="59493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Trees</a:t>
            </a:r>
          </a:p>
        </p:txBody>
      </p:sp>
      <p:sp>
        <p:nvSpPr>
          <p:cNvPr id="187" name="Graphs"/>
          <p:cNvSpPr txBox="1"/>
          <p:nvPr/>
        </p:nvSpPr>
        <p:spPr>
          <a:xfrm>
            <a:off x="9921696" y="2725675"/>
            <a:ext cx="76248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Graphs</a:t>
            </a:r>
          </a:p>
        </p:txBody>
      </p:sp>
      <p:sp>
        <p:nvSpPr>
          <p:cNvPr id="188" name="Based on…"/>
          <p:cNvSpPr txBox="1"/>
          <p:nvPr/>
        </p:nvSpPr>
        <p:spPr>
          <a:xfrm>
            <a:off x="5357385" y="2725675"/>
            <a:ext cx="1477230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/>
            </a:lvl1pPr>
          </a:lstStyle>
          <a:p>
            <a:pPr/>
            <a:r>
              <a:t>Based on…</a:t>
            </a:r>
          </a:p>
        </p:txBody>
      </p:sp>
      <p:sp>
        <p:nvSpPr>
          <p:cNvPr id="189" name="Osmond and Coop 2024 - spacetrees…"/>
          <p:cNvSpPr txBox="1"/>
          <p:nvPr/>
        </p:nvSpPr>
        <p:spPr>
          <a:xfrm>
            <a:off x="1159229" y="4093750"/>
            <a:ext cx="4747951" cy="644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000"/>
            </a:pPr>
            <a:r>
              <a:t>Osmond and Coop 2024 - </a:t>
            </a:r>
            <a:r>
              <a:rPr b="1"/>
              <a:t>spacetrees</a:t>
            </a:r>
          </a:p>
          <a:p>
            <a:pPr>
              <a:defRPr sz="2000"/>
            </a:pPr>
            <a:r>
              <a:t>Kitchens and Coop (unpublished) - </a:t>
            </a:r>
            <a:r>
              <a:rPr b="1"/>
              <a:t>terracotta</a:t>
            </a:r>
          </a:p>
        </p:txBody>
      </p:sp>
      <p:sp>
        <p:nvSpPr>
          <p:cNvPr id="190" name="Wohns et al. 2022 -  midpoint…"/>
          <p:cNvSpPr txBox="1"/>
          <p:nvPr/>
        </p:nvSpPr>
        <p:spPr>
          <a:xfrm>
            <a:off x="7941391" y="4093750"/>
            <a:ext cx="3173597" cy="949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2000"/>
            </a:pPr>
            <a:r>
              <a:t>Wohns et al. 2022 -  </a:t>
            </a:r>
            <a:r>
              <a:rPr b="1"/>
              <a:t>midpoint</a:t>
            </a:r>
            <a:endParaRPr b="1"/>
          </a:p>
          <a:p>
            <a:pPr algn="r">
              <a:defRPr sz="2000"/>
            </a:pPr>
            <a:r>
              <a:t>Grundler et al. 2025 - </a:t>
            </a:r>
            <a:r>
              <a:rPr b="1"/>
              <a:t>gaia</a:t>
            </a:r>
            <a:endParaRPr b="1"/>
          </a:p>
          <a:p>
            <a:pPr algn="r">
              <a:defRPr sz="2000"/>
            </a:pPr>
            <a:r>
              <a:t>Deraje et al. 2025 - </a:t>
            </a:r>
            <a:r>
              <a:rPr b="1"/>
              <a:t>sparg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Method walkthroughs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Bubble trouble</a:t>
            </a:r>
          </a:p>
        </p:txBody>
      </p:sp>
      <p:sp>
        <p:nvSpPr>
          <p:cNvPr id="195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- Diamonds/bubbles are more common due to frequent mating between highly related lineages</a:t>
            </a:r>
          </a:p>
          <a:p>
            <a:pPr marL="0" indent="0">
              <a:buSzTx/>
              <a:buNone/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- These structures do not leave an identifiable genetic signal and most inference tools ignore them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Effect of space on ARG inference </a:t>
            </a:r>
          </a:p>
        </p:txBody>
      </p:sp>
      <p:sp>
        <p:nvSpPr>
          <p:cNvPr id="198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- ARGs are generally inferred under a panmictic model</a:t>
            </a:r>
          </a:p>
          <a:p>
            <a:pPr marL="0" indent="0">
              <a:buSzTx/>
              <a:buNone/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- ARG likelihoods will be different under a spatial model</a:t>
            </a:r>
          </a:p>
          <a:p>
            <a:pPr marL="0" indent="0">
              <a:buSzTx/>
              <a:buNone/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- Osmond and Coop 2024 used importance sampling with their trees. There isn’t yet an equivalent calculation for the full ARG.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Edge spans and Grundler et al. 2025</a:t>
            </a:r>
          </a:p>
        </p:txBody>
      </p:sp>
      <p:sp>
        <p:nvSpPr>
          <p:cNvPr id="201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- `gaia` weights edges by their span when calculating node positions. All other methods use uniform weighting.</a:t>
            </a:r>
          </a:p>
          <a:p>
            <a:pPr marL="0" indent="0">
              <a:buSzTx/>
              <a:buNone/>
              <a:defRPr>
                <a:solidFill>
                  <a:srgbClr val="0C2320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- They argue that we may have more confidence in edges that have longer spans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